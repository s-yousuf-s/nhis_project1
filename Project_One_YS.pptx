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3" r:id="rId9"/>
    <p:sldId id="264" r:id="rId10"/>
    <p:sldId id="259" r:id="rId11"/>
    <p:sldId id="265" r:id="rId12"/>
    <p:sldId id="266" r:id="rId13"/>
    <p:sldId id="270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yStuff\TechStuffs\DigicromeAcademy\Internship\Project%201\DataSet_Final_YS_v1.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Daily Rentals and Forecast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Forecast_Output!$B$1</c:f>
              <c:strCache>
                <c:ptCount val="1"/>
                <c:pt idx="0">
                  <c:v>Total Rentals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Forecast_Output!$B$2:$B$78</c:f>
              <c:numCache>
                <c:formatCode>General</c:formatCode>
                <c:ptCount val="77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6A-4468-B236-8110E41E3AC6}"/>
            </c:ext>
          </c:extLst>
        </c:ser>
        <c:ser>
          <c:idx val="1"/>
          <c:order val="1"/>
          <c:tx>
            <c:strRef>
              <c:f>Forecast_Output!$C$1</c:f>
              <c:strCache>
                <c:ptCount val="1"/>
                <c:pt idx="0">
                  <c:v>Forecast(Total Rentals)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trendline>
            <c:spPr>
              <a:ln w="25400" cap="rnd">
                <a:solidFill>
                  <a:srgbClr val="00B050">
                    <a:alpha val="50000"/>
                  </a:srgbClr>
                </a:solidFill>
              </a:ln>
              <a:effectLst/>
            </c:spPr>
            <c:trendlineType val="linear"/>
            <c:dispRSqr val="0"/>
            <c:dispEq val="0"/>
          </c:trendline>
          <c:cat>
            <c:numRef>
              <c:f>Forecast_Output!$A$2:$A$78</c:f>
              <c:numCache>
                <c:formatCode>m/d/yyyy</c:formatCode>
                <c:ptCount val="7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  <c:pt idx="74">
                  <c:v>40618</c:v>
                </c:pt>
                <c:pt idx="75">
                  <c:v>40619</c:v>
                </c:pt>
                <c:pt idx="76">
                  <c:v>40620</c:v>
                </c:pt>
              </c:numCache>
            </c:numRef>
          </c:cat>
          <c:val>
            <c:numRef>
              <c:f>Forecast_Output!$C$2:$C$78</c:f>
              <c:numCache>
                <c:formatCode>General</c:formatCode>
                <c:ptCount val="77"/>
                <c:pt idx="44">
                  <c:v>151</c:v>
                </c:pt>
                <c:pt idx="45" formatCode="0">
                  <c:v>1383.1712615983563</c:v>
                </c:pt>
                <c:pt idx="46" formatCode="0">
                  <c:v>1476.9531321122211</c:v>
                </c:pt>
                <c:pt idx="47" formatCode="0">
                  <c:v>1583.4753172185776</c:v>
                </c:pt>
                <c:pt idx="48" formatCode="0">
                  <c:v>1586.874011940861</c:v>
                </c:pt>
                <c:pt idx="49" formatCode="0">
                  <c:v>1191.1960289133265</c:v>
                </c:pt>
                <c:pt idx="50" formatCode="0">
                  <c:v>1239.3928033916209</c:v>
                </c:pt>
                <c:pt idx="51" formatCode="0">
                  <c:v>1275.5273519845941</c:v>
                </c:pt>
                <c:pt idx="52" formatCode="0">
                  <c:v>1408.0181176777637</c:v>
                </c:pt>
                <c:pt idx="53" formatCode="0">
                  <c:v>1501.7999881916287</c:v>
                </c:pt>
                <c:pt idx="54" formatCode="0">
                  <c:v>1608.322173297985</c:v>
                </c:pt>
                <c:pt idx="55" formatCode="0">
                  <c:v>1611.7208680202687</c:v>
                </c:pt>
                <c:pt idx="56" formatCode="0">
                  <c:v>1216.0428849927339</c:v>
                </c:pt>
                <c:pt idx="57" formatCode="0">
                  <c:v>1264.2396594710285</c:v>
                </c:pt>
                <c:pt idx="58" formatCode="0">
                  <c:v>1300.3742080640016</c:v>
                </c:pt>
                <c:pt idx="59" formatCode="0">
                  <c:v>1432.8649737571714</c:v>
                </c:pt>
                <c:pt idx="60" formatCode="0">
                  <c:v>1526.6468442710361</c:v>
                </c:pt>
                <c:pt idx="61" formatCode="0">
                  <c:v>1633.1690293773927</c:v>
                </c:pt>
                <c:pt idx="62" formatCode="0">
                  <c:v>1636.5677240996761</c:v>
                </c:pt>
                <c:pt idx="63" formatCode="0">
                  <c:v>1240.8897410721415</c:v>
                </c:pt>
                <c:pt idx="64" formatCode="0">
                  <c:v>1289.0865155504359</c:v>
                </c:pt>
                <c:pt idx="65" formatCode="0">
                  <c:v>1325.2210641434092</c:v>
                </c:pt>
                <c:pt idx="66" formatCode="0">
                  <c:v>1457.7118298365788</c:v>
                </c:pt>
                <c:pt idx="67" formatCode="0">
                  <c:v>1551.4937003504438</c:v>
                </c:pt>
                <c:pt idx="68" formatCode="0">
                  <c:v>1658.0158854568001</c:v>
                </c:pt>
                <c:pt idx="69" formatCode="0">
                  <c:v>1661.4145801790837</c:v>
                </c:pt>
                <c:pt idx="70" formatCode="0">
                  <c:v>1265.7365971515489</c:v>
                </c:pt>
                <c:pt idx="71" formatCode="0">
                  <c:v>1313.9333716298436</c:v>
                </c:pt>
                <c:pt idx="72" formatCode="0">
                  <c:v>1350.0679202228166</c:v>
                </c:pt>
                <c:pt idx="73" formatCode="0">
                  <c:v>1482.5586859159864</c:v>
                </c:pt>
                <c:pt idx="74" formatCode="0">
                  <c:v>1576.3405564298512</c:v>
                </c:pt>
                <c:pt idx="75" formatCode="0">
                  <c:v>1682.8627415362077</c:v>
                </c:pt>
                <c:pt idx="76" formatCode="0">
                  <c:v>1686.2614362584911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A6A-4468-B236-8110E41E3AC6}"/>
            </c:ext>
          </c:extLst>
        </c:ser>
        <c:ser>
          <c:idx val="2"/>
          <c:order val="2"/>
          <c:tx>
            <c:strRef>
              <c:f>Forecast_Output!$D$1</c:f>
              <c:strCache>
                <c:ptCount val="1"/>
                <c:pt idx="0">
                  <c:v>Lower Confidence Bound(Total Rentals)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Forecast_Output!$A$2:$A$78</c:f>
              <c:numCache>
                <c:formatCode>m/d/yyyy</c:formatCode>
                <c:ptCount val="7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  <c:pt idx="74">
                  <c:v>40618</c:v>
                </c:pt>
                <c:pt idx="75">
                  <c:v>40619</c:v>
                </c:pt>
                <c:pt idx="76">
                  <c:v>40620</c:v>
                </c:pt>
              </c:numCache>
            </c:numRef>
          </c:cat>
          <c:val>
            <c:numRef>
              <c:f>Forecast_Output!$D$2:$D$78</c:f>
              <c:numCache>
                <c:formatCode>General</c:formatCode>
                <c:ptCount val="77"/>
                <c:pt idx="44" formatCode="0.00">
                  <c:v>151</c:v>
                </c:pt>
                <c:pt idx="45" formatCode="0">
                  <c:v>608.8914389892002</c:v>
                </c:pt>
                <c:pt idx="46" formatCode="0">
                  <c:v>702.66982525170283</c:v>
                </c:pt>
                <c:pt idx="47" formatCode="0">
                  <c:v>809.18581617212874</c:v>
                </c:pt>
                <c:pt idx="48" formatCode="0">
                  <c:v>812.57483257809611</c:v>
                </c:pt>
                <c:pt idx="49" formatCode="0">
                  <c:v>416.88291298758907</c:v>
                </c:pt>
                <c:pt idx="50" formatCode="0">
                  <c:v>465.06071865822582</c:v>
                </c:pt>
                <c:pt idx="51" formatCode="0">
                  <c:v>501.17049236548894</c:v>
                </c:pt>
                <c:pt idx="52" formatCode="0">
                  <c:v>626.74138436297096</c:v>
                </c:pt>
                <c:pt idx="53" formatCode="0">
                  <c:v>720.48488854014772</c:v>
                </c:pt>
                <c:pt idx="54" formatCode="0">
                  <c:v>826.96065289792637</c:v>
                </c:pt>
                <c:pt idx="55" formatCode="0">
                  <c:v>830.3041066867379</c:v>
                </c:pt>
                <c:pt idx="56" formatCode="0">
                  <c:v>434.56129726646543</c:v>
                </c:pt>
                <c:pt idx="57" formatCode="0">
                  <c:v>482.68289520695112</c:v>
                </c:pt>
                <c:pt idx="58" formatCode="0">
                  <c:v>518.73115311707306</c:v>
                </c:pt>
                <c:pt idx="59" formatCode="0">
                  <c:v>643.63452032752832</c:v>
                </c:pt>
                <c:pt idx="60" formatCode="0">
                  <c:v>737.30663448048631</c:v>
                </c:pt>
                <c:pt idx="61" formatCode="0">
                  <c:v>843.7057890760168</c:v>
                </c:pt>
                <c:pt idx="62" formatCode="0">
                  <c:v>846.9674260854697</c:v>
                </c:pt>
                <c:pt idx="63" formatCode="0">
                  <c:v>451.13760633517029</c:v>
                </c:pt>
                <c:pt idx="64" formatCode="0">
                  <c:v>499.16701465298695</c:v>
                </c:pt>
                <c:pt idx="65" formatCode="0">
                  <c:v>535.11791874274343</c:v>
                </c:pt>
                <c:pt idx="66" formatCode="0">
                  <c:v>659.34184615356037</c:v>
                </c:pt>
                <c:pt idx="67" formatCode="0">
                  <c:v>752.90748198050846</c:v>
                </c:pt>
                <c:pt idx="68" formatCode="0">
                  <c:v>859.1951036491995</c:v>
                </c:pt>
                <c:pt idx="69" formatCode="0">
                  <c:v>862.34017206902081</c:v>
                </c:pt>
                <c:pt idx="70" formatCode="0">
                  <c:v>466.38876802138589</c:v>
                </c:pt>
                <c:pt idx="71" formatCode="0">
                  <c:v>514.29159734452969</c:v>
                </c:pt>
                <c:pt idx="72" formatCode="0">
                  <c:v>550.11094984496162</c:v>
                </c:pt>
                <c:pt idx="73" formatCode="0">
                  <c:v>673.64931890630669</c:v>
                </c:pt>
                <c:pt idx="74" formatCode="0">
                  <c:v>767.07515347529761</c:v>
                </c:pt>
                <c:pt idx="75" formatCode="0">
                  <c:v>873.21813438764855</c:v>
                </c:pt>
                <c:pt idx="76" formatCode="0">
                  <c:v>876.21374911215185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A6A-4468-B236-8110E41E3AC6}"/>
            </c:ext>
          </c:extLst>
        </c:ser>
        <c:ser>
          <c:idx val="3"/>
          <c:order val="3"/>
          <c:tx>
            <c:strRef>
              <c:f>Forecast_Output!$E$1</c:f>
              <c:strCache>
                <c:ptCount val="1"/>
                <c:pt idx="0">
                  <c:v>Upper Confidence Bound(Total Rentals)</c:v>
                </c:pt>
              </c:strCache>
            </c:strRef>
          </c:tx>
          <c:spPr>
            <a:ln w="22225" cap="rnd">
              <a:solidFill>
                <a:schemeClr val="accent4"/>
              </a:solidFill>
            </a:ln>
            <a:effectLst>
              <a:glow rad="139700">
                <a:schemeClr val="accent4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Forecast_Output!$A$2:$A$78</c:f>
              <c:numCache>
                <c:formatCode>m/d/yyyy</c:formatCode>
                <c:ptCount val="7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  <c:pt idx="74">
                  <c:v>40618</c:v>
                </c:pt>
                <c:pt idx="75">
                  <c:v>40619</c:v>
                </c:pt>
                <c:pt idx="76">
                  <c:v>40620</c:v>
                </c:pt>
              </c:numCache>
            </c:numRef>
          </c:cat>
          <c:val>
            <c:numRef>
              <c:f>Forecast_Output!$E$2:$E$78</c:f>
              <c:numCache>
                <c:formatCode>General</c:formatCode>
                <c:ptCount val="77"/>
                <c:pt idx="44" formatCode="0.00">
                  <c:v>151</c:v>
                </c:pt>
                <c:pt idx="45" formatCode="0">
                  <c:v>2157.4510842075124</c:v>
                </c:pt>
                <c:pt idx="46" formatCode="0">
                  <c:v>2251.2364389727391</c:v>
                </c:pt>
                <c:pt idx="47" formatCode="0">
                  <c:v>2357.7648182650264</c:v>
                </c:pt>
                <c:pt idx="48" formatCode="0">
                  <c:v>2361.173191303626</c:v>
                </c:pt>
                <c:pt idx="49" formatCode="0">
                  <c:v>1965.509144839064</c:v>
                </c:pt>
                <c:pt idx="50" formatCode="0">
                  <c:v>2013.7248881250159</c:v>
                </c:pt>
                <c:pt idx="51" formatCode="0">
                  <c:v>2049.8842116036994</c:v>
                </c:pt>
                <c:pt idx="52" formatCode="0">
                  <c:v>2189.2948509925563</c:v>
                </c:pt>
                <c:pt idx="53" formatCode="0">
                  <c:v>2283.1150878431099</c:v>
                </c:pt>
                <c:pt idx="54" formatCode="0">
                  <c:v>2389.6836936980435</c:v>
                </c:pt>
                <c:pt idx="55" formatCode="0">
                  <c:v>2393.1376293537996</c:v>
                </c:pt>
                <c:pt idx="56" formatCode="0">
                  <c:v>1997.5244727190025</c:v>
                </c:pt>
                <c:pt idx="57" formatCode="0">
                  <c:v>2045.7964237351059</c:v>
                </c:pt>
                <c:pt idx="58" formatCode="0">
                  <c:v>2082.01726301093</c:v>
                </c:pt>
                <c:pt idx="59" formatCode="0">
                  <c:v>2222.0954271868145</c:v>
                </c:pt>
                <c:pt idx="60" formatCode="0">
                  <c:v>2315.9870540615857</c:v>
                </c:pt>
                <c:pt idx="61" formatCode="0">
                  <c:v>2422.6322696787684</c:v>
                </c:pt>
                <c:pt idx="62" formatCode="0">
                  <c:v>2426.1680221138822</c:v>
                </c:pt>
                <c:pt idx="63" formatCode="0">
                  <c:v>2030.6418758091127</c:v>
                </c:pt>
                <c:pt idx="64" formatCode="0">
                  <c:v>2079.006016447885</c:v>
                </c:pt>
                <c:pt idx="65" formatCode="0">
                  <c:v>2115.3242095440751</c:v>
                </c:pt>
                <c:pt idx="66" formatCode="0">
                  <c:v>2256.0818135195973</c:v>
                </c:pt>
                <c:pt idx="67" formatCode="0">
                  <c:v>2350.0799187203793</c:v>
                </c:pt>
                <c:pt idx="68" formatCode="0">
                  <c:v>2456.8366672644006</c:v>
                </c:pt>
                <c:pt idx="69" formatCode="0">
                  <c:v>2460.4889882891466</c:v>
                </c:pt>
                <c:pt idx="70" formatCode="0">
                  <c:v>2065.0844262817118</c:v>
                </c:pt>
                <c:pt idx="71" formatCode="0">
                  <c:v>2113.5751459151575</c:v>
                </c:pt>
                <c:pt idx="72" formatCode="0">
                  <c:v>2150.0248906006718</c:v>
                </c:pt>
                <c:pt idx="73" formatCode="0">
                  <c:v>2291.4680529256661</c:v>
                </c:pt>
                <c:pt idx="74" formatCode="0">
                  <c:v>2385.6059593844047</c:v>
                </c:pt>
                <c:pt idx="75" formatCode="0">
                  <c:v>2492.5073486847668</c:v>
                </c:pt>
                <c:pt idx="76" formatCode="0">
                  <c:v>2496.3091234048306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A6A-4468-B236-8110E41E3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2375487"/>
        <c:axId val="1212375967"/>
      </c:lineChart>
      <c:catAx>
        <c:axId val="1212375487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Dates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2375967"/>
        <c:crosses val="autoZero"/>
        <c:auto val="1"/>
        <c:lblAlgn val="ctr"/>
        <c:lblOffset val="100"/>
        <c:noMultiLvlLbl val="0"/>
      </c:catAx>
      <c:valAx>
        <c:axId val="1212375967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</a:t>
                </a:r>
                <a:r>
                  <a:rPr lang="en-IN" baseline="0"/>
                  <a:t> Rentals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2375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C0CEF-9FA4-4BDC-A32E-E19F9F99E9F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0A0D5-F72A-497B-988F-3F7946B2CD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A0A71-166B-BED8-2B96-984C1A7B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27BFE-171E-01BE-B217-FD1E8BE46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3093C-63BC-346C-B512-D1F44FC9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Registered users dominate the system, indicating consistent commuter-driven demand.</a:t>
            </a:r>
          </a:p>
          <a:p>
            <a:pPr marL="0" indent="0">
              <a:buNone/>
            </a:pPr>
            <a:r>
              <a:rPr lang="en-US" dirty="0"/>
              <a:t>Casual usage increases during weekends, suggesting recreational usage patterns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33F56-4CC4-A0B7-6C72-962A235CA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32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1D57-16C1-8E33-ADFB-983C0B71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51EFC-B3B0-8AC0-5346-0F7292ED8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03DF9-67C1-DCF1-67F3-60D6EBE1C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Rental demand fluctuates daily with visible peaks and drops.</a:t>
            </a:r>
          </a:p>
          <a:p>
            <a:pPr marL="0" indent="0">
              <a:buNone/>
            </a:pPr>
            <a:r>
              <a:rPr lang="en-US" dirty="0"/>
              <a:t>Mid-week demand is highest, weekends show different usage behavior.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05DB8-894D-3B20-F645-2305B24BE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814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C22C-2973-160E-1E7A-E29DC584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A0E27-2D93-45CA-E083-AB298D97B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F1CAA-B3DB-F6AF-57D9-AC36E5AF5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Clear weather drives higher demand, while adverse conditions reduce usage.</a:t>
            </a:r>
          </a:p>
          <a:p>
            <a:pPr marL="0" indent="0">
              <a:buNone/>
            </a:pPr>
            <a:r>
              <a:rPr lang="en-US" dirty="0"/>
              <a:t>Evening time too have higher usage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732A2-BBE4-E3AB-59CE-2A15CE0D7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493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6F7B-F154-E56F-3527-5B349C15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A6EB1-1CE9-3857-5F20-B2AC62BB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1FA4E-AA47-0663-CEBB-A21123DF2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Clear weather drives higher demand, while adverse conditions reduce usage.</a:t>
            </a:r>
          </a:p>
          <a:p>
            <a:pPr marL="0" indent="0">
              <a:buNone/>
            </a:pPr>
            <a:r>
              <a:rPr lang="en-US" dirty="0"/>
              <a:t>Evening time too have higher usage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25E7-E2F0-DF20-20EA-92A5AB795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73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67DCB-F213-0B0D-325F-4424C9DD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F6D68-8C11-2A59-EBF8-DDF9F7D3F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46B55-0865-FA0B-5054-54A9C7DCB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Peak demand occurs during evening hours, especially on weekdays.</a:t>
            </a:r>
          </a:p>
          <a:p>
            <a:pPr marL="0" indent="0">
              <a:buNone/>
            </a:pPr>
            <a:r>
              <a:rPr lang="en-US" dirty="0"/>
              <a:t>Apart from these two Heat Maps, we have Heat Maps for Humidity based as well as Windspeed based, but it doesn’t significantly show any additional changes.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9AF9B-D37A-C9BB-0CCE-EF1CCA0FF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01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6ECDF-D69B-8D09-E659-48DA8FFC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A08ED-042C-9892-2B92-12486D5AB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9B080-63C5-563F-A909-107A1037F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Higher temperatures are associated with increased rental activity.</a:t>
            </a:r>
          </a:p>
          <a:p>
            <a:pPr marL="0" indent="0">
              <a:buNone/>
            </a:pPr>
            <a:r>
              <a:rPr lang="en-US" dirty="0"/>
              <a:t>Additional we have scatter analysis for Humidity Vs Rentals as well as Windspeed Vs Rentals.</a:t>
            </a:r>
          </a:p>
          <a:p>
            <a:pPr marL="0" indent="0">
              <a:buNone/>
            </a:pPr>
            <a:r>
              <a:rPr lang="en-US" dirty="0"/>
              <a:t>With Increase in Humidity, the rental usage decreases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453CA-8B03-A417-786A-E1D16523C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093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Descriptive analysis shows that rental demand is highly variable, with registered users contributing the majority of usage, while environmental factors such as humidity exhibit moderate variability.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106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6B589-8321-DD07-E03F-27B330C0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A881C-8063-4368-4B3A-CCA24FDE0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A7223-448C-70BD-97B3-F2F97B4FB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Temperature positively correlates with demand, while humidity shows a negative relationship.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2F0A0-10FE-5445-0F79-A73C4101F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058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1AC3-4585-19D9-0433-B6931E23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EF82E-E156-C81F-4E63-C34F2ECD3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F35EF-B35E-713A-3CC2-1681E4C9C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Forecasting suggests stable demand patterns with predictable fluctuations</a:t>
            </a:r>
          </a:p>
          <a:p>
            <a:pPr marL="0" indent="0">
              <a:buNone/>
            </a:pPr>
            <a:r>
              <a:rPr lang="en-US" dirty="0"/>
              <a:t>We have considered forecasting from 15</a:t>
            </a:r>
            <a:r>
              <a:rPr lang="en-US" baseline="30000" dirty="0"/>
              <a:t>th</a:t>
            </a:r>
            <a:r>
              <a:rPr lang="en-US" dirty="0"/>
              <a:t> February till 18</a:t>
            </a:r>
            <a:r>
              <a:rPr lang="en-US" baseline="30000" dirty="0"/>
              <a:t>th</a:t>
            </a:r>
            <a:r>
              <a:rPr lang="en-US" dirty="0"/>
              <a:t> March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5CA2-DCD9-3860-C1E0-16B6D8BAA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0A0D5-F72A-497B-988F-3F7946B2CDE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352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8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34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0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46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90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64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04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6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6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9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53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509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649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97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34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991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7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9E8E1A-A638-4688-ACEE-56A52114AEAB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FF80DF-DC0E-4E7E-8FF9-9407D2A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7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  <p:sldLayoutId id="21474839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F086FB-CF92-FE0E-A2A9-4C37313CA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9804" y="1936955"/>
            <a:ext cx="7412804" cy="7811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Bike Rental Demand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76F1FF1-AA38-FDFB-DB46-334B52679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2383" y="2751394"/>
            <a:ext cx="6987645" cy="677606"/>
          </a:xfrm>
        </p:spPr>
        <p:txBody>
          <a:bodyPr/>
          <a:lstStyle/>
          <a:p>
            <a:pPr algn="ctr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&amp; Insights</a:t>
            </a:r>
            <a:endParaRPr lang="en-IN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81577FE1-C35E-C684-BA46-D194C34E38FD}"/>
              </a:ext>
            </a:extLst>
          </p:cNvPr>
          <p:cNvSpPr txBox="1">
            <a:spLocks/>
          </p:cNvSpPr>
          <p:nvPr/>
        </p:nvSpPr>
        <p:spPr>
          <a:xfrm>
            <a:off x="4923416" y="6276258"/>
            <a:ext cx="6987645" cy="6776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solidFill>
                  <a:srgbClr val="002060"/>
                </a:solidFill>
              </a:rPr>
              <a:t>Yousuf  S. R. Sakkaf</a:t>
            </a:r>
            <a:endParaRPr lang="en-IN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50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85A1-207C-7670-F888-077FBCC3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01777"/>
            <a:ext cx="9164025" cy="73004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AB620-77C7-40C0-8691-A5982E5EC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52367"/>
            <a:ext cx="10018713" cy="3124201"/>
          </a:xfrm>
        </p:spPr>
        <p:txBody>
          <a:bodyPr>
            <a:normAutofit/>
          </a:bodyPr>
          <a:lstStyle/>
          <a:p>
            <a:r>
              <a:rPr lang="en-US" dirty="0"/>
              <a:t>Understand rental demand patterns</a:t>
            </a:r>
          </a:p>
          <a:p>
            <a:r>
              <a:rPr lang="en-US" dirty="0"/>
              <a:t>Analyze impact of weather &amp; time</a:t>
            </a:r>
          </a:p>
          <a:p>
            <a:r>
              <a:rPr lang="en-US" dirty="0"/>
              <a:t>Identify peak usage behavior</a:t>
            </a:r>
          </a:p>
          <a:p>
            <a:r>
              <a:rPr lang="en-US" dirty="0"/>
              <a:t>Enable data-driven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49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6AEF-4218-9DD1-DC64-B213AF77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639097"/>
            <a:ext cx="9114862" cy="70792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A48FE-9EE2-8B81-D48B-DD607285D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1000 hourly records</a:t>
            </a:r>
          </a:p>
          <a:p>
            <a:r>
              <a:rPr lang="en-US" dirty="0"/>
              <a:t>Time range: Jan–Feb</a:t>
            </a:r>
          </a:p>
          <a:p>
            <a:r>
              <a:rPr lang="en-US" dirty="0"/>
              <a:t>Key variables:</a:t>
            </a:r>
          </a:p>
          <a:p>
            <a:pPr lvl="1"/>
            <a:r>
              <a:rPr lang="en-US" dirty="0"/>
              <a:t>Temperature, Humidity, Windspeed</a:t>
            </a:r>
          </a:p>
          <a:p>
            <a:pPr lvl="1"/>
            <a:r>
              <a:rPr lang="en-US" dirty="0"/>
              <a:t>Weather conditions</a:t>
            </a:r>
          </a:p>
          <a:p>
            <a:pPr lvl="1"/>
            <a:r>
              <a:rPr lang="en-US" dirty="0"/>
              <a:t>Time Slots</a:t>
            </a:r>
          </a:p>
          <a:p>
            <a:pPr lvl="1"/>
            <a:r>
              <a:rPr lang="en-US" dirty="0"/>
              <a:t>Casual &amp; Registered users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648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2484-A009-C8FD-0D53-721FCCA9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150E-C65F-6A53-B86C-5326106E0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4" y="521109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Users Activity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C62F8-9525-E590-3548-3D18F4D3D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699" y="1278193"/>
            <a:ext cx="5056862" cy="3038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2E8375-4DDB-9616-AC22-7BDEE44C8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052" y="3476338"/>
            <a:ext cx="4636083" cy="320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90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F102-9C4D-D7F1-9372-2875D102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621B-ECBF-03F0-8A1A-899757A7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4" y="422787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Trend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5B2A3-4437-CEA8-ADA6-5C58CE38D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671" y="4040648"/>
            <a:ext cx="4229250" cy="2542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E1C44D-E251-D651-5A81-3FB97B792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089" y="1254771"/>
            <a:ext cx="5979770" cy="318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21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9499-7178-A7E1-30C9-784944B6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0AC4-09CD-1FCB-01DF-15C787CF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4" y="422787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Weather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A5149-4FA4-740E-82AE-1E29B051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741" y="1113385"/>
            <a:ext cx="4461259" cy="2930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A930F0-7A72-2575-D96A-3119B0A9A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750" y="3429000"/>
            <a:ext cx="4792320" cy="303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90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70B90-3A0C-C464-24B2-0AF5F0B0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62BA-B8E1-2971-8546-13750FA8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4" y="422787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KPIs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64FFE5-2D3F-9406-0F51-A76E8C646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58573"/>
              </p:ext>
            </p:extLst>
          </p:nvPr>
        </p:nvGraphicFramePr>
        <p:xfrm>
          <a:off x="3501794" y="1700980"/>
          <a:ext cx="5406231" cy="2959512"/>
        </p:xfrm>
        <a:graphic>
          <a:graphicData uri="http://schemas.openxmlformats.org/drawingml/2006/table">
            <a:tbl>
              <a:tblPr/>
              <a:tblGrid>
                <a:gridCol w="3854739">
                  <a:extLst>
                    <a:ext uri="{9D8B030D-6E8A-4147-A177-3AD203B41FA5}">
                      <a16:colId xmlns:a16="http://schemas.microsoft.com/office/drawing/2014/main" val="546408396"/>
                    </a:ext>
                  </a:extLst>
                </a:gridCol>
                <a:gridCol w="1551492">
                  <a:extLst>
                    <a:ext uri="{9D8B030D-6E8A-4147-A177-3AD203B41FA5}">
                      <a16:colId xmlns:a16="http://schemas.microsoft.com/office/drawing/2014/main" val="3834482077"/>
                    </a:ext>
                  </a:extLst>
                </a:gridCol>
              </a:tblGrid>
              <a:tr h="5228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KPI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628083"/>
                  </a:ext>
                </a:extLst>
              </a:tr>
              <a:tr h="485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🚲 Total Rentals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58304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72226"/>
                  </a:ext>
                </a:extLst>
              </a:tr>
              <a:tr h="485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📊 Average Rentals/Hr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974654"/>
                  </a:ext>
                </a:extLst>
              </a:tr>
              <a:tr h="485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⏰ Peak Hour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PM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32521"/>
                  </a:ext>
                </a:extLst>
              </a:tr>
              <a:tr h="4854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☀️ Best Weather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Clear Sky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343184"/>
                  </a:ext>
                </a:extLst>
              </a:tr>
              <a:tr h="494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🌆 Peak Time Slot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Evening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2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183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EBB3-6269-4188-5F08-67B48162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254B-E1B6-EA62-6179-FF47F170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4" y="422787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Heat Map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6D3D58-9F5B-6F40-DAC6-B82114603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964" y="1371343"/>
            <a:ext cx="6116072" cy="28881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476A4E-45BA-CBB8-9D30-94A728F05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742" y="4445286"/>
            <a:ext cx="6888207" cy="185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87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BED3-3B9A-B0C3-752B-368BAA4E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CF65-BE96-3BFD-AE0F-73F9ACB7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5" y="240890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Scatter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0F677-464F-E2AC-67A4-EA0F93D39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145" y="963563"/>
            <a:ext cx="5120079" cy="3077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2CA6CA-0EE3-A68D-AD6F-34B74E26E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532" y="3331457"/>
            <a:ext cx="5466394" cy="328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29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20CF-1C99-3E2A-D488-96571325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4" y="521109"/>
            <a:ext cx="9046038" cy="75708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Descriptive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98E942-BD73-397E-8538-383AC3638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66855" y="4610344"/>
            <a:ext cx="2246361" cy="1419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2E894C-8DDB-DBA8-7A60-AF31D3961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563" y="2370065"/>
            <a:ext cx="2246361" cy="1419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2C3C77-49B4-168D-0834-FEBBBCABC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856" y="2370066"/>
            <a:ext cx="2246361" cy="14197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91D5CE-C6FD-30F6-584E-FD4D78D3B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563" y="4610345"/>
            <a:ext cx="2246360" cy="141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48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DDCC-9CFD-0184-0CF0-D58C7C1D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F99A-403F-0C46-5BAE-EC655657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5" y="240890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Correlation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C9365-E771-CA04-93AA-0928B0F8B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32" y="2493891"/>
            <a:ext cx="8422342" cy="187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91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30EE-133C-5A16-EAEA-F5C0AEAD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7F60-7A40-76F7-146F-A6C152884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5" y="240890"/>
            <a:ext cx="8996875" cy="540775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Forecasting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68D3A84-2693-CCF4-AEFF-E967370B03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653119"/>
              </p:ext>
            </p:extLst>
          </p:nvPr>
        </p:nvGraphicFramePr>
        <p:xfrm>
          <a:off x="1824267" y="1349631"/>
          <a:ext cx="8543465" cy="443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170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Sub>
          <a:bldChart bld="series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788D-AF2C-2BFF-E343-84F805C4C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8812" y="1118420"/>
            <a:ext cx="4607188" cy="57626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Insights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6D5D4-F1B6-ACBF-6266-8C98FF84E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4878" y="1870331"/>
            <a:ext cx="4895056" cy="2455862"/>
          </a:xfrm>
        </p:spPr>
        <p:txBody>
          <a:bodyPr/>
          <a:lstStyle/>
          <a:p>
            <a:r>
              <a:rPr lang="en-US" dirty="0"/>
              <a:t>Peak demand occurs during evenings</a:t>
            </a:r>
          </a:p>
          <a:p>
            <a:r>
              <a:rPr lang="en-US" dirty="0"/>
              <a:t>Registered users dominate rental usage</a:t>
            </a:r>
          </a:p>
          <a:p>
            <a:r>
              <a:rPr lang="en-US" dirty="0"/>
              <a:t>Weather significantly impacts demand</a:t>
            </a:r>
          </a:p>
          <a:p>
            <a:r>
              <a:rPr lang="en-US" dirty="0"/>
              <a:t>Demand shows high variability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083B0-C285-269F-35AD-CA44D2C19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2096" y="3581400"/>
            <a:ext cx="4622537" cy="57626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Business Recommendations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62E9D-9986-129C-D0DA-A9EB10901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52096" y="4402138"/>
            <a:ext cx="4895056" cy="2455862"/>
          </a:xfrm>
        </p:spPr>
        <p:txBody>
          <a:bodyPr/>
          <a:lstStyle/>
          <a:p>
            <a:r>
              <a:rPr lang="en-US" dirty="0"/>
              <a:t>Increase bike availability during peak hours</a:t>
            </a:r>
          </a:p>
          <a:p>
            <a:r>
              <a:rPr lang="en-US" dirty="0"/>
              <a:t>Use weather forecasts for demand planning</a:t>
            </a:r>
          </a:p>
          <a:p>
            <a:r>
              <a:rPr lang="en-US" dirty="0"/>
              <a:t>Target casual users on weekends</a:t>
            </a:r>
          </a:p>
          <a:p>
            <a:r>
              <a:rPr lang="en-US" dirty="0"/>
              <a:t>Offer promotions during low-demand periods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78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E0FB-CC98-271D-583D-83044DFE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2E7B-8C2C-5731-2266-B2DF73FB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9105031" cy="74971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5F391-B29E-9CA6-359E-206809E8B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34379"/>
            <a:ext cx="10018713" cy="3124201"/>
          </a:xfrm>
        </p:spPr>
        <p:txBody>
          <a:bodyPr>
            <a:normAutofit/>
          </a:bodyPr>
          <a:lstStyle/>
          <a:p>
            <a:r>
              <a:rPr lang="en-US" sz="2000" dirty="0"/>
              <a:t>Demand driven by </a:t>
            </a:r>
            <a:r>
              <a:rPr lang="en-US" sz="2000" b="1" dirty="0"/>
              <a:t>time &amp; weather factors</a:t>
            </a:r>
          </a:p>
          <a:p>
            <a:r>
              <a:rPr lang="en-US" sz="2000" dirty="0"/>
              <a:t>Strong reliance on </a:t>
            </a:r>
            <a:r>
              <a:rPr lang="en-US" sz="2000" b="1" dirty="0"/>
              <a:t>regular</a:t>
            </a:r>
            <a:r>
              <a:rPr lang="en-US" sz="2000" dirty="0"/>
              <a:t> </a:t>
            </a:r>
            <a:r>
              <a:rPr lang="en-US" sz="2000" b="1" dirty="0"/>
              <a:t>commuters</a:t>
            </a:r>
          </a:p>
          <a:p>
            <a:r>
              <a:rPr lang="en-US" sz="2000" dirty="0"/>
              <a:t>Opportunity for </a:t>
            </a:r>
            <a:r>
              <a:rPr lang="en-US" sz="2000" b="1" dirty="0"/>
              <a:t>demand optimization &amp; forecasting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38015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84DC37-E128-0CB4-747F-6176E2505A04}"/>
              </a:ext>
            </a:extLst>
          </p:cNvPr>
          <p:cNvSpPr txBox="1"/>
          <p:nvPr/>
        </p:nvSpPr>
        <p:spPr>
          <a:xfrm>
            <a:off x="3175822" y="2765780"/>
            <a:ext cx="62041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rgbClr val="002060"/>
                </a:solidFill>
              </a:rPr>
              <a:t>THANK 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F94A9-6C9E-44BD-4C98-5021F098036B}"/>
              </a:ext>
            </a:extLst>
          </p:cNvPr>
          <p:cNvSpPr txBox="1"/>
          <p:nvPr/>
        </p:nvSpPr>
        <p:spPr>
          <a:xfrm>
            <a:off x="4026310" y="3882741"/>
            <a:ext cx="4503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2060"/>
                </a:solidFill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198007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284</TotalTime>
  <Words>397</Words>
  <Application>Microsoft Office PowerPoint</Application>
  <PresentationFormat>Widescreen</PresentationFormat>
  <Paragraphs>82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Parallax</vt:lpstr>
      <vt:lpstr>Bike Rental Demand</vt:lpstr>
      <vt:lpstr>Project Objective</vt:lpstr>
      <vt:lpstr>Dataset Overview</vt:lpstr>
      <vt:lpstr>Users Activity</vt:lpstr>
      <vt:lpstr>Trend Analysis</vt:lpstr>
      <vt:lpstr>Weather Impact</vt:lpstr>
      <vt:lpstr>KPIs</vt:lpstr>
      <vt:lpstr>Heat Map</vt:lpstr>
      <vt:lpstr>Scatter Analysis</vt:lpstr>
      <vt:lpstr>Descriptive Analysis</vt:lpstr>
      <vt:lpstr>Correlation Analysis</vt:lpstr>
      <vt:lpstr>Forecasting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Yousuf Sakkaf</dc:creator>
  <cp:lastModifiedBy>Yousuf Sakkaf</cp:lastModifiedBy>
  <cp:revision>13</cp:revision>
  <dcterms:created xsi:type="dcterms:W3CDTF">2026-03-25T04:24:12Z</dcterms:created>
  <dcterms:modified xsi:type="dcterms:W3CDTF">2026-03-25T12:00:00Z</dcterms:modified>
</cp:coreProperties>
</file>